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99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Project implementation and user-provided project artifacts.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28016"/>
            <a:ext cx="12191695" cy="6638544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NovaTech Enterprise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Assistant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RAG project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Multi-format ingestion • Hybrid retrieval • Reranking • Conversational memory • Grounded answers with sources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AF3FF"/>
          </a:solidFill>
          <a:ln w="12700">
            <a:solidFill>
              <a:srgbClr val="1D4ED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867912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3.11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3794760"/>
            <a:ext cx="987552" cy="347472"/>
          </a:xfrm>
          <a:prstGeom prst="roundRect">
            <a:avLst>
              <a:gd name="adj" fmla="val 21053"/>
            </a:avLst>
          </a:prstGeom>
          <a:solidFill>
            <a:srgbClr val="EAFBF6"/>
          </a:solidFill>
          <a:ln w="1270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76856" y="38679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0128" y="3794760"/>
            <a:ext cx="1225296" cy="347472"/>
          </a:xfrm>
          <a:prstGeom prst="roundRect">
            <a:avLst>
              <a:gd name="adj" fmla="val 21053"/>
            </a:avLst>
          </a:prstGeom>
          <a:solidFill>
            <a:srgbClr val="F2ECFF"/>
          </a:solidFill>
          <a:ln w="12700">
            <a:solidFill>
              <a:srgbClr val="6D28D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38144" y="3867912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3794760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FFF7E6"/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37176" y="38679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60920" y="777240"/>
            <a:ext cx="4114800" cy="5166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26680" y="1143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outcome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26680" y="16916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enterprise knowledge assistant that retrieves from internal policy documents, uses hybrid search plus reranking, supports follow-up questions, and avoids unsupported answers.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26680" y="3246120"/>
            <a:ext cx="310896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2668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 automated tests passing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2668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Ingestion, retrieval, memory, and RAG behavior verified.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Why this exists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project objective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EAF3FF"/>
          </a:solidFill>
          <a:ln w="12700">
            <a:solidFill>
              <a:srgbClr val="1D4ED8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100584" cy="1874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15270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Employee search problem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901952"/>
            <a:ext cx="4745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answers are spread across PDFs, Word documents, employee handbooks, FAQs, and security/travel guides. Simple keyword search can miss context or return too many generic results.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55080" y="132588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1F2"/>
          </a:solidFill>
          <a:ln w="12700">
            <a:solidFill>
              <a:srgbClr val="DC2626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100584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11112" y="15270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11112" y="1901952"/>
            <a:ext cx="4745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 LLM can sound confident even when the company documents do not support the answer. Enterprise assistants need grounding, source visibility, and a safe fallback.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85800" y="370332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EAFBF6"/>
          </a:solidFill>
          <a:ln w="12700">
            <a:solidFill>
              <a:srgbClr val="0F766E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703320"/>
            <a:ext cx="100584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390448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capability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" y="4279392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the most relevant internal evidence, reason only over that context, answer clearly, cite sources, and handle conversational follow-up questions.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55080" y="370332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2ECFF"/>
          </a:solidFill>
          <a:ln w="12700">
            <a:solidFill>
              <a:srgbClr val="6D28D9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3703320"/>
            <a:ext cx="100584" cy="1600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11112" y="390448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goal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11112" y="4279392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modular, configurable, tested Python application with separate ingestion/indexing and online query serving.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What is included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and knowledge base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enterprise corpus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6858000" cy="347472"/>
          </a:xfrm>
          <a:prstGeom prst="roundRect">
            <a:avLst>
              <a:gd name="adj" fmla="val 1052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" y="17647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2743200" y="176479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3703320" y="1764792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6858000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F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" y="213969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 Policy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743200" y="213969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703320" y="2139696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leave, carry-forward, sick leave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2441448"/>
            <a:ext cx="6858000" cy="32918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8E2F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5528" y="252374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Policy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743200" y="2523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703320" y="2523744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class, hotel limits, expenses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" y="2825496"/>
            <a:ext cx="6858000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F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5528" y="29077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Security Policy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743200" y="290779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703320" y="2907792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handling, password, incidents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" y="3209544"/>
            <a:ext cx="6858000" cy="32918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8E2F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5528" y="329184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Handbook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743200" y="32918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703320" y="329184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practices and summary policies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" y="3593592"/>
            <a:ext cx="6858000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F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95528" y="367588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Guide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743200" y="367588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703320" y="3675888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wellness, learning, assistance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" y="3977640"/>
            <a:ext cx="6858000" cy="32918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8E2F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5528" y="405993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Work Policy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2743200" y="40599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703320" y="4059936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eligibility, approval, reimbursements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" y="4361688"/>
            <a:ext cx="6858000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F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95528" y="44439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of Conduct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2743200" y="444398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3703320" y="4443984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behavior, conflicts, reporting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5800" y="4745736"/>
            <a:ext cx="6858000" cy="32918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8E2F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5528" y="482803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FAQ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743200" y="482803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3703320" y="4828032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employee questions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001000" y="126187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1D4ED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7532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formats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275320" y="1874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• DOCX • TXT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01000" y="2670048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BF6"/>
          </a:solidFill>
          <a:ln w="12700">
            <a:solidFill>
              <a:srgbClr val="0F76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27532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 pages/docs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275320" y="32735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Loaded by the document layer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01000" y="4078224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2ECFF"/>
          </a:solidFill>
          <a:ln w="12700">
            <a:solidFill>
              <a:srgbClr val="6D28D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75320" y="4288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 chunks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8275320" y="46817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by retrieval pipelines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System 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</a:t>
            </a:r>
            <a:endParaRPr lang="en-US" sz="2300" dirty="0"/>
          </a:p>
        </p:txBody>
      </p:sp>
      <p:pic>
        <p:nvPicPr>
          <p:cNvPr id="7" name="Image 0" descr="/mnt/data/a_clean_infographic_diagram_on_a_white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1051560"/>
            <a:ext cx="7509510" cy="5285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Build the knowledge index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 ingestion and indexing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D4ED8">
                <a:alpha val="8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3816" y="1618488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3816" y="170992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44168" y="1572768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files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44168" y="183794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PDF, DOCX, TXT from data/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86584" y="1819656"/>
            <a:ext cx="44805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80360" y="141732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F766E">
                <a:alpha val="8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08376" y="1618488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08376" y="170992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38728" y="1572768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38728" y="183794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text and metadata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81144" y="1819656"/>
            <a:ext cx="44805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74920" y="141732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6D28D9">
                <a:alpha val="8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02936" y="1618488"/>
            <a:ext cx="402336" cy="40233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02936" y="170992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33288" y="1572768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Chunk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33288" y="183794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into overlap-aware pieces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75704" y="1819656"/>
            <a:ext cx="44805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69480" y="141732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59E0B">
                <a:alpha val="8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97496" y="161848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97496" y="170992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27848" y="1572768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27848" y="183794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text-embedding model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970264" y="1819656"/>
            <a:ext cx="44805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464040" y="141732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B1F3A">
                <a:alpha val="8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92056" y="1618488"/>
            <a:ext cx="402336" cy="40233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592056" y="170992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122408" y="1572768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122408" y="183794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vectors in ChromaDB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60120" y="3063240"/>
            <a:ext cx="4892040" cy="1261872"/>
          </a:xfrm>
          <a:prstGeom prst="roundRect">
            <a:avLst>
              <a:gd name="adj" fmla="val 5797"/>
            </a:avLst>
          </a:prstGeom>
          <a:solidFill>
            <a:srgbClr val="EAF3FF"/>
          </a:solidFill>
          <a:ln w="12700">
            <a:solidFill>
              <a:srgbClr val="1D4ED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234440" y="33192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indexing when the knowledge base changes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34440" y="36941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 ingest.py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6520" y="3063240"/>
            <a:ext cx="4709160" cy="1261872"/>
          </a:xfrm>
          <a:prstGeom prst="roundRect">
            <a:avLst>
              <a:gd name="adj" fmla="val 5797"/>
            </a:avLst>
          </a:prstGeom>
          <a:solidFill>
            <a:srgbClr val="FFF7E6"/>
          </a:solidFill>
          <a:ln w="12700">
            <a:solidFill>
              <a:srgbClr val="F59E0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20840" y="33192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is separated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2084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and vector indexing are offline work. The user-facing app reuses the persisted ChromaDB index instead of rebuilding it at startup.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960120" y="4892040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contents: chunk text, embedding vector, chunk_id, source, page, and file_type metadata.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Better recall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retrieval strategy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1D4ED8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100584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" y="152704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 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901952"/>
            <a:ext cx="2916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OpenAI embeddings and ChromaDB to retrieve semantically similar chunks, even when the user wording differs from the document text.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AFBF6"/>
          </a:solidFill>
          <a:ln w="12700">
            <a:solidFill>
              <a:srgbClr val="0F766E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100584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90872" y="152704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BM25 keyword 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0872" y="1901952"/>
            <a:ext cx="2916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tokenized keyword matching for exact terms, policy words, numeric limits, and phrases such as carry forward.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2ECFF"/>
          </a:solidFill>
          <a:ln w="12700">
            <a:solidFill>
              <a:srgbClr val="6D28D9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100584" cy="1828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94192" y="152704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Weighted fusion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94192" y="1901952"/>
            <a:ext cx="2916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both result sets using configurable vector and keyword weights to produce a richer candidate pool.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069080" y="2240280"/>
            <a:ext cx="34747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0" y="2240280"/>
            <a:ext cx="34747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8800" y="3931920"/>
            <a:ext cx="8549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48840" y="4187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Configuration example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4187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vector_weight: 0.60    keyword_weight: 0.40    hybrid_top_k: 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48840" y="46177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Benefit: semantic breadth plus exact-match precision before reranking.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Better precision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Reranking and final context selection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F2ECFF"/>
          </a:solidFill>
          <a:ln w="12700">
            <a:solidFill>
              <a:srgbClr val="6D28D9">
                <a:alpha val="8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1435608"/>
            <a:ext cx="402336" cy="40233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0976" y="152704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81328" y="13898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candidates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1328" y="165506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pool from vector + BM25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EAFBF6"/>
          </a:solidFill>
          <a:ln w="12700">
            <a:solidFill>
              <a:srgbClr val="0F766E">
                <a:alpha val="8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08576" y="1435608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08576" y="152704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38928" y="13898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Cross-encoder reranker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38928" y="165506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query–chunk relevance pairs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138160" y="12344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2700">
            <a:solidFill>
              <a:srgbClr val="1D4ED8">
                <a:alpha val="8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66176" y="1435608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66176" y="152704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796528" y="13898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preservation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96528" y="165506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strong hybrid and reranked candidates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69080" y="1636776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26680" y="1636776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960" y="2788920"/>
            <a:ext cx="10561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blurRad="1651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0" y="30906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ranking combines multiple signals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234440" y="3703320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91640" y="36758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Reranker score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691640" y="4005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relevance judged by cross-encoder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3703320"/>
            <a:ext cx="320040" cy="3200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36758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score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4005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from vector + keyword retrieval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26680" y="370332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83880" y="36758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priority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83880" y="4005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configurable authority signal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43000" y="464515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rationale: do not blindly trust one stage. Preserve high-confidence retrieval candidates and then rank the final evidence set.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From query to answer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Conversational memory and grounded generation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EAFBF6"/>
          </a:solidFill>
          <a:ln w="12700">
            <a:solidFill>
              <a:srgbClr val="0F766E">
                <a:alpha val="7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16276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understanding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stores recent turns and rewrites vague follow-ups into standalone retrieval queries before searching.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1097280" y="2697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“What about carry-forward?” → “What is the policy on carrying forward unused annual leave?”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13258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7E6"/>
          </a:solidFill>
          <a:ln w="12700">
            <a:solidFill>
              <a:srgbClr val="F59E0B">
                <a:alpha val="7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6276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Grounded response policy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05740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answer is generated only from retrieved company context. If the context does not contain the answer, the assistant returns a configured fallback.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6675120" y="2697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includes answer text plus source document names.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65960" y="384048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31720" y="4069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fallback example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4069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could not find this information in the available company documents.”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Streamlit experience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User-facing application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1143000"/>
            <a:ext cx="6400800" cy="4434840"/>
          </a:xfrm>
          <a:prstGeom prst="roundRect">
            <a:avLst>
              <a:gd name="adj" fmla="val 2062"/>
            </a:avLst>
          </a:prstGeom>
          <a:solidFill>
            <a:srgbClr val="F8FAFC"/>
          </a:solidFill>
          <a:ln w="12700">
            <a:solidFill>
              <a:srgbClr val="D8E2F1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NovaTech Knowledge Assistant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43000" y="1874520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204825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User: What is the annual leave policy?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4300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AFBF6"/>
          </a:solidFill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28163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Assistant: Employees receive 20 working days... Carry-forward is limited to 10 unused annual leave days...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1325880" y="331012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leave_policy.pdf, employee_handbook.pdf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43000" y="3950208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25880" y="412394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User: What about carry-forward?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35240" y="13258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EAF3FF"/>
          </a:solidFill>
          <a:ln w="12700">
            <a:solidFill>
              <a:srgbClr val="1D4ED8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35240" y="1325880"/>
            <a:ext cx="100584" cy="2057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91272" y="1527048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91272" y="1901952"/>
            <a:ext cx="3236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Chat-style input and response history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Expandable source list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conversation action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 indicator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error handling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635240" y="370332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EAFBF6"/>
          </a:solidFill>
          <a:ln w="12700">
            <a:solidFill>
              <a:srgbClr val="0F766E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3703320"/>
            <a:ext cx="100584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91272" y="3904488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behavior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91272" y="4279392"/>
            <a:ext cx="3236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loads the existing ChromaDB index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 is built in memory at startup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run through the RAG chain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are shown in the UI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Final readiness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quality and maintainability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1D4ED8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100584" cy="1691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143560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Modular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81051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Loader, chunker, embeddings, vector store, BM25, hybrid retrieval, reranker, memory, prompts, RAG chain, UI.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0F766E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26280" y="1234440"/>
            <a:ext cx="100584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143560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Configuration driven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82312" y="181051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Models, chunking, retrieval counts, weights, reranking, memory, source priority, and logging live in config.yaml.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366760" y="12344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6D28D9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66760" y="1234440"/>
            <a:ext cx="100584" cy="1691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22792" y="143560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Logging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22792" y="181051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print statements replaced with structured Python logging at INFO/DEBUG/WARNING/ERROR levels.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347472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59E0B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3474720"/>
            <a:ext cx="10058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832" y="367588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 handling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405079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API key lives in .env. .env.example is provided. .env is excluded from Git.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526280" y="347472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0B1F3A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26280" y="3474720"/>
            <a:ext cx="100584" cy="1691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82312" y="367588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82312" y="405079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passing tests cover document loading, chunking, retrieval, memory, and RAG behavior.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366760" y="347472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2626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66760" y="3474720"/>
            <a:ext cx="100584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22792" y="367588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hygiene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22792" y="405079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.venv, .venv_test, chroma_db, __pycache__, and .DS_Store are ignored.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Honest boundaries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constraints, and production considerations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3337560" cy="2926080"/>
          </a:xfrm>
          <a:prstGeom prst="roundRect">
            <a:avLst>
              <a:gd name="adj" fmla="val 2500"/>
            </a:avLst>
          </a:prstGeom>
          <a:solidFill>
            <a:srgbClr val="FFF7E6"/>
          </a:solidFill>
          <a:ln w="12700">
            <a:solidFill>
              <a:srgbClr val="F59E0B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100584" cy="2926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143560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implementation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1810512"/>
            <a:ext cx="29169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sample documents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ChromaDB vector store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session memory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enterprise authentication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document-level authorization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3337560" cy="2926080"/>
          </a:xfrm>
          <a:prstGeom prst="roundRect">
            <a:avLst>
              <a:gd name="adj" fmla="val 2500"/>
            </a:avLst>
          </a:prstGeom>
          <a:solidFill>
            <a:srgbClr val="EAFBF6"/>
          </a:solidFill>
          <a:ln w="12700">
            <a:solidFill>
              <a:srgbClr val="0F766E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100584" cy="2926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90872" y="143560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posture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0872" y="1810512"/>
            <a:ext cx="29169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stored in .env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excluded from Git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real confidential data in sample corpus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User-facing errors are generic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details go to logs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92440" y="1234440"/>
            <a:ext cx="3337560" cy="2926080"/>
          </a:xfrm>
          <a:prstGeom prst="roundRect">
            <a:avLst>
              <a:gd name="adj" fmla="val 2500"/>
            </a:avLst>
          </a:prstGeom>
          <a:solidFill>
            <a:srgbClr val="EAF3FF"/>
          </a:solidFill>
          <a:ln w="12700">
            <a:solidFill>
              <a:srgbClr val="1D4ED8">
                <a:alpha val="7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92440" y="1234440"/>
            <a:ext cx="100584" cy="2926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48472" y="143560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path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48472" y="1810512"/>
            <a:ext cx="29169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enterprise identity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document permissions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document ingestion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conversation logs safely</a:t>
            </a:r>
            <a:endParaRPr lang="en-US" sz="1080" dirty="0"/>
          </a:p>
          <a:p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monitoring and evaluation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60120" y="4800600"/>
            <a:ext cx="10287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4440" y="5029200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limitation: BM25 is currently rebuilt in memory when the application initializes, while the vector index is persisted in ChromaDB.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468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Outcome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completion summary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was delivered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1719072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Multi-format document ingestion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0756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embeddings + local ChromaDB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914400" y="2487168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245973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+ BM25 hybrid retrieval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14400" y="2871216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28437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Cross-encoder reranking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14400" y="3255264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8720" y="32278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memory and query rewrite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4400" y="3639312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answers with source display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14400" y="4023360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39959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application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14400" y="4407408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8720" y="437997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Logging, tests, README, and architecture documentation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629400" y="1417320"/>
            <a:ext cx="4434840" cy="3246120"/>
          </a:xfrm>
          <a:prstGeom prst="roundRect">
            <a:avLst>
              <a:gd name="adj" fmla="val 2817"/>
            </a:avLst>
          </a:prstGeom>
          <a:solidFill>
            <a:srgbClr val="EAFBF6"/>
          </a:solidFill>
          <a:ln w="12700">
            <a:solidFill>
              <a:srgbClr val="0F766E">
                <a:alpha val="75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95160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95160" y="233172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complete, tested, configurable enterprise RAG application that can retrieve from internal documents, answer with sources, handle follow-up questions, and avoid unsupported claims.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995160" y="38221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 tests passed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95160" y="425196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core ingestion, retrieval, memory, and RAG flows.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57400" y="553212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F"/>
          </a:solidFill>
          <a:ln w="12700">
            <a:solidFill>
              <a:srgbClr val="1D4ED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185416" y="5605272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Future: enterprise connectors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43400" y="55321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AFBF6"/>
          </a:solidFill>
          <a:ln w="1270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71416" y="560527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Future: RBAC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553212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2ECFF"/>
          </a:solidFill>
          <a:ln w="12700">
            <a:solidFill>
              <a:srgbClr val="6D28D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17336" y="5605272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Future: incremental indexing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58200" y="553212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FF7E6"/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86216" y="5605272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Future: observability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6547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NovaTech Enterprise Knowledge Assistant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33856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1397</Words>
  <Application>Microsoft Macintosh PowerPoint</Application>
  <PresentationFormat>Widescreen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NovaTech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NovaTech Enterprise Knowledge Assistant</dc:title>
  <dc:subject>Enterprise Knowledge Assistant with Advanced RAG</dc:subject>
  <dc:creator>OpenAI</dc:creator>
  <cp:lastModifiedBy>bipin tiwari</cp:lastModifiedBy>
  <cp:revision>2</cp:revision>
  <dcterms:created xsi:type="dcterms:W3CDTF">2026-09-08T15:28:04Z</dcterms:created>
  <dcterms:modified xsi:type="dcterms:W3CDTF">2026-09-08T17:09:11Z</dcterms:modified>
</cp:coreProperties>
</file>